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5"/>
  </p:notesMasterIdLst>
  <p:sldIdLst>
    <p:sldId id="256" r:id="rId2"/>
    <p:sldId id="264" r:id="rId3"/>
    <p:sldId id="268" r:id="rId4"/>
  </p:sldIdLst>
  <p:sldSz cx="9906000" cy="6858000" type="A4"/>
  <p:notesSz cx="6888163" cy="100187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izer P. Betinol" initials="EPB" lastIdx="42" clrIdx="0">
    <p:extLst>
      <p:ext uri="{19B8F6BF-5375-455C-9EA6-DF929625EA0E}">
        <p15:presenceInfo xmlns:p15="http://schemas.microsoft.com/office/powerpoint/2012/main" userId="S-1-5-21-4134998048-3027543182-730414805-3686" providerId="AD"/>
      </p:ext>
    </p:extLst>
  </p:cmAuthor>
  <p:cmAuthor id="2" name="Paolo T. Parone" initials="PTP" lastIdx="4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91030" autoAdjust="0"/>
  </p:normalViewPr>
  <p:slideViewPr>
    <p:cSldViewPr snapToGrid="0">
      <p:cViewPr varScale="1">
        <p:scale>
          <a:sx n="100" d="100"/>
          <a:sy n="100" d="100"/>
        </p:scale>
        <p:origin x="1626" y="72"/>
      </p:cViewPr>
      <p:guideLst>
        <p:guide orient="horz" pos="2168"/>
        <p:guide pos="31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4870" cy="502675"/>
          </a:xfrm>
          <a:prstGeom prst="rect">
            <a:avLst/>
          </a:prstGeom>
        </p:spPr>
        <p:txBody>
          <a:bodyPr vert="horz" lIns="92428" tIns="46214" rIns="92428" bIns="462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9" y="1"/>
            <a:ext cx="2984870" cy="502675"/>
          </a:xfrm>
          <a:prstGeom prst="rect">
            <a:avLst/>
          </a:prstGeom>
        </p:spPr>
        <p:txBody>
          <a:bodyPr vert="horz" lIns="92428" tIns="46214" rIns="92428" bIns="46214" rtlCol="0"/>
          <a:lstStyle>
            <a:lvl1pPr algn="r">
              <a:defRPr sz="1200"/>
            </a:lvl1pPr>
          </a:lstStyle>
          <a:p>
            <a:fld id="{F1427B00-E670-4C16-AAF3-03727BAD7F6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52538"/>
            <a:ext cx="4881563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28" tIns="46214" rIns="92428" bIns="462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9"/>
          </a:xfrm>
          <a:prstGeom prst="rect">
            <a:avLst/>
          </a:prstGeom>
        </p:spPr>
        <p:txBody>
          <a:bodyPr vert="horz" lIns="92428" tIns="46214" rIns="92428" bIns="462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6039"/>
            <a:ext cx="2984870" cy="502674"/>
          </a:xfrm>
          <a:prstGeom prst="rect">
            <a:avLst/>
          </a:prstGeom>
        </p:spPr>
        <p:txBody>
          <a:bodyPr vert="horz" lIns="92428" tIns="46214" rIns="92428" bIns="462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9" y="9516039"/>
            <a:ext cx="2984870" cy="502674"/>
          </a:xfrm>
          <a:prstGeom prst="rect">
            <a:avLst/>
          </a:prstGeom>
        </p:spPr>
        <p:txBody>
          <a:bodyPr vert="horz" lIns="92428" tIns="46214" rIns="92428" bIns="46214" rtlCol="0" anchor="b"/>
          <a:lstStyle>
            <a:lvl1pPr algn="r">
              <a:defRPr sz="1200"/>
            </a:lvl1pPr>
          </a:lstStyle>
          <a:p>
            <a:fld id="{CC86933C-9A07-4B87-8258-2C1B9330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7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6933C-9A07-4B87-8258-2C1B933017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42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6933C-9A07-4B87-8258-2C1B933017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42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579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16220" y="5515968"/>
            <a:ext cx="9665504" cy="954107"/>
          </a:xfrm>
          <a:prstGeom prst="rect">
            <a:avLst/>
          </a:prstGeom>
          <a:noFill/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PH" sz="800" dirty="0"/>
          </a:p>
          <a:p>
            <a:endParaRPr lang="en-PH" sz="800" dirty="0"/>
          </a:p>
          <a:p>
            <a:endParaRPr lang="en-PH" sz="800" dirty="0"/>
          </a:p>
          <a:p>
            <a:endParaRPr lang="en-PH" sz="800" dirty="0"/>
          </a:p>
          <a:p>
            <a:endParaRPr lang="en-PH" sz="800" dirty="0"/>
          </a:p>
          <a:p>
            <a:endParaRPr lang="en-PH" sz="800" dirty="0"/>
          </a:p>
          <a:p>
            <a:endParaRPr lang="en-PH" sz="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21260275"/>
              </p:ext>
            </p:extLst>
          </p:nvPr>
        </p:nvGraphicFramePr>
        <p:xfrm>
          <a:off x="120981" y="6553200"/>
          <a:ext cx="9665505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5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92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Data Flow Diagram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75000"/>
                          </a:schemeClr>
                        </a:gs>
                        <a:gs pos="50000">
                          <a:schemeClr val="tx2"/>
                        </a:gs>
                        <a:gs pos="99000">
                          <a:schemeClr val="bg2"/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87900229"/>
              </p:ext>
            </p:extLst>
          </p:nvPr>
        </p:nvGraphicFramePr>
        <p:xfrm>
          <a:off x="131985" y="1066800"/>
          <a:ext cx="9653459" cy="4399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653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49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518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4799963"/>
              </p:ext>
            </p:extLst>
          </p:nvPr>
        </p:nvGraphicFramePr>
        <p:xfrm>
          <a:off x="127695" y="76201"/>
          <a:ext cx="9702933" cy="92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1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 rowSpan="3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PH" sz="14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First Community Cooperative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Document No.: DFD-INBD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7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4295" marR="74295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67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300" b="1" dirty="0"/>
                        <a:t>Data Flow Diagram</a:t>
                      </a:r>
                    </a:p>
                  </a:txBody>
                  <a:tcPr marL="74295" marR="74295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5547600-F07B-1E99-DDDA-DBB2AB740C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42" y="67575"/>
            <a:ext cx="928727" cy="93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961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584" y="1102578"/>
            <a:ext cx="97458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 algn="just">
              <a:buFont typeface="+mj-lt"/>
              <a:buAutoNum type="romanUcPeriod"/>
            </a:pPr>
            <a:r>
              <a:rPr lang="en-PH" sz="1600" dirty="0"/>
              <a:t>Purpose and Scope</a:t>
            </a:r>
          </a:p>
          <a:p>
            <a:pPr algn="just"/>
            <a:endParaRPr lang="en-PH" sz="1600" dirty="0"/>
          </a:p>
          <a:p>
            <a:pPr marL="393700" algn="just"/>
            <a:r>
              <a:rPr lang="en-PH" sz="1600" dirty="0"/>
              <a:t>This document provides a graphical representation of how personal information flows within the business processes of Insurance and Non-Banking Department. This includes the collection, usage, retention, transfer/disclosure and disposal of personal information. Reference numbers are mapped to the Data Inventory for the data fields of each document/file.</a:t>
            </a:r>
          </a:p>
          <a:p>
            <a:pPr algn="just"/>
            <a:endParaRPr lang="en-PH" sz="1600" dirty="0"/>
          </a:p>
          <a:p>
            <a:pPr algn="just"/>
            <a:r>
              <a:rPr lang="en-PH" sz="1600" dirty="0"/>
              <a:t>II.     Data Flow Diagram</a:t>
            </a:r>
          </a:p>
        </p:txBody>
      </p:sp>
      <p:sp>
        <p:nvSpPr>
          <p:cNvPr id="87" name="Flowchart: Alternate Process 86"/>
          <p:cNvSpPr>
            <a:spLocks noChangeAspect="1"/>
          </p:cNvSpPr>
          <p:nvPr/>
        </p:nvSpPr>
        <p:spPr>
          <a:xfrm>
            <a:off x="575443" y="3247698"/>
            <a:ext cx="960120" cy="64008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Manual Process</a:t>
            </a:r>
          </a:p>
        </p:txBody>
      </p: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1870843" y="3239756"/>
            <a:ext cx="960120" cy="661346"/>
            <a:chOff x="1524000" y="2733140"/>
            <a:chExt cx="1143000" cy="727261"/>
          </a:xfrm>
        </p:grpSpPr>
        <p:grpSp>
          <p:nvGrpSpPr>
            <p:cNvPr id="89" name="Group 88"/>
            <p:cNvGrpSpPr/>
            <p:nvPr/>
          </p:nvGrpSpPr>
          <p:grpSpPr>
            <a:xfrm>
              <a:off x="1524000" y="2756526"/>
              <a:ext cx="1143000" cy="703875"/>
              <a:chOff x="1676400" y="2680395"/>
              <a:chExt cx="990600" cy="596205"/>
            </a:xfrm>
          </p:grpSpPr>
          <p:sp>
            <p:nvSpPr>
              <p:cNvPr id="91" name="Flowchart: Process 90"/>
              <p:cNvSpPr/>
              <p:nvPr/>
            </p:nvSpPr>
            <p:spPr>
              <a:xfrm>
                <a:off x="1676400" y="2680395"/>
                <a:ext cx="990600" cy="596205"/>
              </a:xfrm>
              <a:prstGeom prst="flowChartProcess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PH" sz="800" dirty="0"/>
                  <a:t>System Process</a:t>
                </a:r>
              </a:p>
            </p:txBody>
          </p:sp>
          <p:cxnSp>
            <p:nvCxnSpPr>
              <p:cNvPr id="92" name="Straight Connector 91"/>
              <p:cNvCxnSpPr/>
              <p:nvPr/>
            </p:nvCxnSpPr>
            <p:spPr>
              <a:xfrm flipH="1">
                <a:off x="1676400" y="2859016"/>
                <a:ext cx="990600" cy="0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</p:cxnSp>
        </p:grpSp>
        <p:sp>
          <p:nvSpPr>
            <p:cNvPr id="90" name="TextBox 89"/>
            <p:cNvSpPr txBox="1"/>
            <p:nvPr/>
          </p:nvSpPr>
          <p:spPr>
            <a:xfrm>
              <a:off x="1524000" y="2733140"/>
              <a:ext cx="1143000" cy="23691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PH" sz="800" dirty="0"/>
                <a:t>System</a:t>
              </a:r>
            </a:p>
          </p:txBody>
        </p:sp>
      </p:grpSp>
      <p:sp>
        <p:nvSpPr>
          <p:cNvPr id="93" name="Flowchart: Document 92"/>
          <p:cNvSpPr>
            <a:spLocks noChangeAspect="1"/>
          </p:cNvSpPr>
          <p:nvPr/>
        </p:nvSpPr>
        <p:spPr>
          <a:xfrm>
            <a:off x="3361822" y="3420378"/>
            <a:ext cx="660577" cy="440385"/>
          </a:xfrm>
          <a:prstGeom prst="flowChartDocumen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Document</a:t>
            </a:r>
          </a:p>
        </p:txBody>
      </p:sp>
      <p:sp>
        <p:nvSpPr>
          <p:cNvPr id="94" name="Flowchart: Predefined Process 93"/>
          <p:cNvSpPr>
            <a:spLocks noChangeAspect="1"/>
          </p:cNvSpPr>
          <p:nvPr/>
        </p:nvSpPr>
        <p:spPr>
          <a:xfrm>
            <a:off x="4537843" y="3247699"/>
            <a:ext cx="961088" cy="640080"/>
          </a:xfrm>
          <a:prstGeom prst="flowChartPredefined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Predefined Process</a:t>
            </a:r>
          </a:p>
        </p:txBody>
      </p:sp>
      <p:sp>
        <p:nvSpPr>
          <p:cNvPr id="95" name="Flowchart: Stored Data 94"/>
          <p:cNvSpPr>
            <a:spLocks noChangeAspect="1"/>
          </p:cNvSpPr>
          <p:nvPr/>
        </p:nvSpPr>
        <p:spPr>
          <a:xfrm>
            <a:off x="5785618" y="3254359"/>
            <a:ext cx="960120" cy="640080"/>
          </a:xfrm>
          <a:prstGeom prst="flowChartOnlineStorag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Transaction File</a:t>
            </a:r>
          </a:p>
        </p:txBody>
      </p:sp>
      <p:sp>
        <p:nvSpPr>
          <p:cNvPr id="96" name="Flowchart: Magnetic Disk 95"/>
          <p:cNvSpPr>
            <a:spLocks noChangeAspect="1"/>
          </p:cNvSpPr>
          <p:nvPr/>
        </p:nvSpPr>
        <p:spPr>
          <a:xfrm>
            <a:off x="7055073" y="3247698"/>
            <a:ext cx="960120" cy="640080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Database</a:t>
            </a:r>
          </a:p>
        </p:txBody>
      </p:sp>
      <p:sp>
        <p:nvSpPr>
          <p:cNvPr id="97" name="Flowchart: Decision 96"/>
          <p:cNvSpPr>
            <a:spLocks noChangeAspect="1"/>
          </p:cNvSpPr>
          <p:nvPr/>
        </p:nvSpPr>
        <p:spPr>
          <a:xfrm>
            <a:off x="8305805" y="3263464"/>
            <a:ext cx="960120" cy="64008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Decision Box</a:t>
            </a:r>
          </a:p>
        </p:txBody>
      </p:sp>
      <p:sp>
        <p:nvSpPr>
          <p:cNvPr id="98" name="Flowchart: Merge 97"/>
          <p:cNvSpPr>
            <a:spLocks noChangeAspect="1"/>
          </p:cNvSpPr>
          <p:nvPr/>
        </p:nvSpPr>
        <p:spPr>
          <a:xfrm>
            <a:off x="660370" y="4282285"/>
            <a:ext cx="826661" cy="551107"/>
          </a:xfrm>
          <a:prstGeom prst="flowChartMerg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File</a:t>
            </a:r>
          </a:p>
        </p:txBody>
      </p:sp>
      <p:sp>
        <p:nvSpPr>
          <p:cNvPr id="99" name="Pentagon 98"/>
          <p:cNvSpPr>
            <a:spLocks noChangeAspect="1"/>
          </p:cNvSpPr>
          <p:nvPr/>
        </p:nvSpPr>
        <p:spPr>
          <a:xfrm rot="5400000">
            <a:off x="2110873" y="4219249"/>
            <a:ext cx="480060" cy="640080"/>
          </a:xfrm>
          <a:prstGeom prst="homePlate">
            <a:avLst>
              <a:gd name="adj" fmla="val 5240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lIns="0" rIns="0" rtlCol="0" anchor="ctr"/>
          <a:lstStyle/>
          <a:p>
            <a:pPr algn="ctr"/>
            <a:r>
              <a:rPr lang="en-PH" sz="800" dirty="0"/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08465" y="507649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Off-page Connector</a:t>
            </a:r>
          </a:p>
        </p:txBody>
      </p:sp>
      <p:cxnSp>
        <p:nvCxnSpPr>
          <p:cNvPr id="101" name="Straight Arrow Connector 35"/>
          <p:cNvCxnSpPr/>
          <p:nvPr/>
        </p:nvCxnSpPr>
        <p:spPr>
          <a:xfrm>
            <a:off x="3242443" y="4466899"/>
            <a:ext cx="1097280" cy="1524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>
            <a:off x="3242443" y="4847899"/>
            <a:ext cx="109728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3242443" y="507649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Connectors</a:t>
            </a:r>
          </a:p>
        </p:txBody>
      </p:sp>
      <p:pic>
        <p:nvPicPr>
          <p:cNvPr id="104" name="Picture 10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8" r="7377"/>
          <a:stretch/>
        </p:blipFill>
        <p:spPr>
          <a:xfrm>
            <a:off x="4634339" y="4207819"/>
            <a:ext cx="877824" cy="73152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4550247" y="507649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Unit/User</a:t>
            </a:r>
          </a:p>
        </p:txBody>
      </p:sp>
      <p:pic>
        <p:nvPicPr>
          <p:cNvPr id="106" name="Picture 10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1" r="13730"/>
          <a:stretch/>
        </p:blipFill>
        <p:spPr>
          <a:xfrm>
            <a:off x="5806400" y="4194036"/>
            <a:ext cx="877824" cy="73152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702874" y="507649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Unit/User</a:t>
            </a:r>
          </a:p>
        </p:txBody>
      </p:sp>
      <p:pic>
        <p:nvPicPr>
          <p:cNvPr id="108" name="Picture 10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3" t="7546" r="36333" b="8038"/>
          <a:stretch/>
        </p:blipFill>
        <p:spPr>
          <a:xfrm>
            <a:off x="7342003" y="4193313"/>
            <a:ext cx="292608" cy="73152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6913865" y="507649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Unit/User</a:t>
            </a:r>
          </a:p>
        </p:txBody>
      </p:sp>
      <p:pic>
        <p:nvPicPr>
          <p:cNvPr id="110" name="Picture 10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t="8297" r="22572" b="16667"/>
          <a:stretch/>
        </p:blipFill>
        <p:spPr>
          <a:xfrm>
            <a:off x="8195443" y="4194036"/>
            <a:ext cx="877824" cy="73152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8133065" y="507649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Unit/User</a:t>
            </a:r>
          </a:p>
        </p:txBody>
      </p:sp>
      <p:sp>
        <p:nvSpPr>
          <p:cNvPr id="112" name="Flowchart: Connector 111"/>
          <p:cNvSpPr>
            <a:spLocks noChangeAspect="1"/>
          </p:cNvSpPr>
          <p:nvPr/>
        </p:nvSpPr>
        <p:spPr>
          <a:xfrm>
            <a:off x="974562" y="5555249"/>
            <a:ext cx="320040" cy="32004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1000" dirty="0"/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98346" y="595148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On-page Connector</a:t>
            </a:r>
          </a:p>
        </p:txBody>
      </p:sp>
      <p:pic>
        <p:nvPicPr>
          <p:cNvPr id="114" name="Picture 11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9" t="21967" r="25722" b="10834"/>
          <a:stretch/>
        </p:blipFill>
        <p:spPr>
          <a:xfrm>
            <a:off x="2256761" y="5555249"/>
            <a:ext cx="325443" cy="32004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870843" y="595148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Email</a:t>
            </a:r>
          </a:p>
        </p:txBody>
      </p:sp>
      <p:sp>
        <p:nvSpPr>
          <p:cNvPr id="119" name="Flowchart: Terminator 118"/>
          <p:cNvSpPr/>
          <p:nvPr/>
        </p:nvSpPr>
        <p:spPr>
          <a:xfrm>
            <a:off x="4880743" y="5865181"/>
            <a:ext cx="563161" cy="301752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Start</a:t>
            </a:r>
          </a:p>
        </p:txBody>
      </p:sp>
      <p:sp>
        <p:nvSpPr>
          <p:cNvPr id="120" name="Flowchart: Terminator 119"/>
          <p:cNvSpPr/>
          <p:nvPr/>
        </p:nvSpPr>
        <p:spPr>
          <a:xfrm>
            <a:off x="5985643" y="5884433"/>
            <a:ext cx="563161" cy="301752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End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310550" y="397701"/>
            <a:ext cx="4932480" cy="318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Insurance and Non-Banking Department</a:t>
            </a:r>
            <a:endParaRPr lang="en-PH" sz="1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805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/>
          <p:cNvSpPr txBox="1"/>
          <p:nvPr/>
        </p:nvSpPr>
        <p:spPr>
          <a:xfrm>
            <a:off x="250705" y="5597238"/>
            <a:ext cx="65689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Notes:	</a:t>
            </a:r>
            <a:r>
              <a:rPr lang="en-US" sz="800" b="1" dirty="0"/>
              <a:t>Insurance includes the following:</a:t>
            </a:r>
          </a:p>
          <a:p>
            <a:r>
              <a:rPr lang="en-US" sz="800" b="1" dirty="0"/>
              <a:t>	1. DI-IN-01 Application For Insurance		6. DI-IN-06 Application For Motor Car Insurance </a:t>
            </a:r>
          </a:p>
          <a:p>
            <a:r>
              <a:rPr lang="en-US" sz="800" b="1" dirty="0"/>
              <a:t>	2. DI-IN-02 Application For Loan Protection Plan (LPP)	7. DI-IN-07 Application For Member’s Funeral Benefits</a:t>
            </a:r>
          </a:p>
          <a:p>
            <a:r>
              <a:rPr lang="en-US" sz="800" b="1" dirty="0"/>
              <a:t>	3. DI-IN-03 </a:t>
            </a:r>
            <a:r>
              <a:rPr lang="en-US" sz="800" b="1" dirty="0" err="1"/>
              <a:t>HomeSECURE</a:t>
            </a:r>
            <a:r>
              <a:rPr lang="en-US" sz="800" b="1" dirty="0"/>
              <a:t> Application		8. DI-IN-08 Application For MSCF Lay Away Package</a:t>
            </a:r>
          </a:p>
          <a:p>
            <a:r>
              <a:rPr lang="en-US" sz="800" b="1" dirty="0"/>
              <a:t>	4. DI-IN-04 Principal Member’s Application Form	9. DI-IN-09 Membership Application Form (MAF)</a:t>
            </a:r>
          </a:p>
          <a:p>
            <a:r>
              <a:rPr lang="en-US" sz="800" b="1" dirty="0"/>
              <a:t>	5. DI-IN-05 Fire Insurance Quotation		10. DI-IN-10 Application Form for GMSB				</a:t>
            </a:r>
            <a:r>
              <a:rPr lang="en-US" sz="1000" b="1" dirty="0"/>
              <a:t>				                   </a:t>
            </a:r>
            <a:endParaRPr lang="en-US" sz="800" b="1" dirty="0"/>
          </a:p>
          <a:p>
            <a:endParaRPr lang="en-US" sz="1000" b="1" dirty="0"/>
          </a:p>
          <a:p>
            <a:endParaRPr lang="en-US" sz="1000" b="1" dirty="0"/>
          </a:p>
          <a:p>
            <a:endParaRPr lang="en-PH" sz="1000" b="1" dirty="0"/>
          </a:p>
        </p:txBody>
      </p:sp>
      <p:cxnSp>
        <p:nvCxnSpPr>
          <p:cNvPr id="15" name="Straight Arrow Connector 14"/>
          <p:cNvCxnSpPr>
            <a:stCxn id="61" idx="3"/>
            <a:endCxn id="133" idx="1"/>
          </p:cNvCxnSpPr>
          <p:nvPr/>
        </p:nvCxnSpPr>
        <p:spPr>
          <a:xfrm flipV="1">
            <a:off x="2296716" y="1848354"/>
            <a:ext cx="648015" cy="240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310550" y="397701"/>
            <a:ext cx="4932480" cy="318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Insurance and Non-Banking Department</a:t>
            </a:r>
            <a:endParaRPr lang="en-PH" sz="14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0128" y="1041421"/>
            <a:ext cx="9646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400" b="1" dirty="0">
                <a:solidFill>
                  <a:schemeClr val="bg1"/>
                </a:solidFill>
              </a:rPr>
              <a:t>Processing of Insurance Applications</a:t>
            </a:r>
          </a:p>
        </p:txBody>
      </p:sp>
      <p:sp>
        <p:nvSpPr>
          <p:cNvPr id="6" name="Flowchart: Terminator 5"/>
          <p:cNvSpPr/>
          <p:nvPr/>
        </p:nvSpPr>
        <p:spPr>
          <a:xfrm>
            <a:off x="251809" y="1697478"/>
            <a:ext cx="563161" cy="301752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Start</a:t>
            </a:r>
          </a:p>
        </p:txBody>
      </p:sp>
      <p:cxnSp>
        <p:nvCxnSpPr>
          <p:cNvPr id="7" name="Straight Arrow Connector 6"/>
          <p:cNvCxnSpPr>
            <a:stCxn id="6" idx="3"/>
            <a:endCxn id="61" idx="1"/>
          </p:cNvCxnSpPr>
          <p:nvPr/>
        </p:nvCxnSpPr>
        <p:spPr>
          <a:xfrm>
            <a:off x="814970" y="1848354"/>
            <a:ext cx="603922" cy="240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lowchart: Connector 41"/>
          <p:cNvSpPr>
            <a:spLocks noChangeAspect="1"/>
          </p:cNvSpPr>
          <p:nvPr/>
        </p:nvSpPr>
        <p:spPr>
          <a:xfrm>
            <a:off x="9335446" y="1688334"/>
            <a:ext cx="320040" cy="32004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1000" dirty="0"/>
              <a:t>A</a:t>
            </a:r>
          </a:p>
        </p:txBody>
      </p:sp>
      <p:sp>
        <p:nvSpPr>
          <p:cNvPr id="126" name="Flowchart: Connector 125"/>
          <p:cNvSpPr/>
          <p:nvPr/>
        </p:nvSpPr>
        <p:spPr>
          <a:xfrm>
            <a:off x="1079291" y="5641120"/>
            <a:ext cx="152068" cy="134784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03912" y="2351274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Members</a:t>
            </a:r>
          </a:p>
        </p:txBody>
      </p:sp>
      <p:cxnSp>
        <p:nvCxnSpPr>
          <p:cNvPr id="136" name="Straight Arrow Connector 135"/>
          <p:cNvCxnSpPr>
            <a:stCxn id="133" idx="3"/>
            <a:endCxn id="62" idx="1"/>
          </p:cNvCxnSpPr>
          <p:nvPr/>
        </p:nvCxnSpPr>
        <p:spPr>
          <a:xfrm>
            <a:off x="3901952" y="1848354"/>
            <a:ext cx="615617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414043" y="2294197"/>
            <a:ext cx="108487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Branches – Risk Protection Clerk</a:t>
            </a:r>
          </a:p>
        </p:txBody>
      </p:sp>
      <p:cxnSp>
        <p:nvCxnSpPr>
          <p:cNvPr id="142" name="Straight Arrow Connector 141"/>
          <p:cNvCxnSpPr>
            <a:stCxn id="62" idx="3"/>
            <a:endCxn id="144" idx="1"/>
          </p:cNvCxnSpPr>
          <p:nvPr/>
        </p:nvCxnSpPr>
        <p:spPr>
          <a:xfrm>
            <a:off x="5395393" y="1848354"/>
            <a:ext cx="67877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Flowchart: Alternate Process 143"/>
          <p:cNvSpPr>
            <a:spLocks noChangeAspect="1"/>
          </p:cNvSpPr>
          <p:nvPr/>
        </p:nvSpPr>
        <p:spPr>
          <a:xfrm>
            <a:off x="6074167" y="1528314"/>
            <a:ext cx="960120" cy="64008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Collects IAF from members</a:t>
            </a:r>
          </a:p>
        </p:txBody>
      </p:sp>
      <p:cxnSp>
        <p:nvCxnSpPr>
          <p:cNvPr id="66" name="Straight Arrow Connector 65"/>
          <p:cNvCxnSpPr>
            <a:stCxn id="77" idx="3"/>
            <a:endCxn id="80" idx="1"/>
          </p:cNvCxnSpPr>
          <p:nvPr/>
        </p:nvCxnSpPr>
        <p:spPr>
          <a:xfrm>
            <a:off x="3893254" y="3468846"/>
            <a:ext cx="658303" cy="239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80" idx="3"/>
            <a:endCxn id="89" idx="1"/>
          </p:cNvCxnSpPr>
          <p:nvPr/>
        </p:nvCxnSpPr>
        <p:spPr>
          <a:xfrm>
            <a:off x="5511677" y="3471239"/>
            <a:ext cx="549510" cy="503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89" idx="3"/>
            <a:endCxn id="100" idx="1"/>
          </p:cNvCxnSpPr>
          <p:nvPr/>
        </p:nvCxnSpPr>
        <p:spPr>
          <a:xfrm>
            <a:off x="7018408" y="3476275"/>
            <a:ext cx="734460" cy="213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100" idx="3"/>
            <a:endCxn id="46" idx="2"/>
          </p:cNvCxnSpPr>
          <p:nvPr/>
        </p:nvCxnSpPr>
        <p:spPr>
          <a:xfrm>
            <a:off x="8630692" y="3478412"/>
            <a:ext cx="70475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64" idx="3"/>
            <a:endCxn id="77" idx="1"/>
          </p:cNvCxnSpPr>
          <p:nvPr/>
        </p:nvCxnSpPr>
        <p:spPr>
          <a:xfrm>
            <a:off x="2274108" y="3465872"/>
            <a:ext cx="659026" cy="297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2944731" y="1528314"/>
            <a:ext cx="1002608" cy="873605"/>
            <a:chOff x="2944731" y="1772789"/>
            <a:chExt cx="1002608" cy="873605"/>
          </a:xfrm>
        </p:grpSpPr>
        <p:sp>
          <p:nvSpPr>
            <p:cNvPr id="133" name="Flowchart: Alternate Process 132"/>
            <p:cNvSpPr/>
            <p:nvPr/>
          </p:nvSpPr>
          <p:spPr>
            <a:xfrm>
              <a:off x="2944731" y="1772789"/>
              <a:ext cx="957221" cy="640080"/>
            </a:xfrm>
            <a:prstGeom prst="flowChartAlternateProcess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PH" sz="800" dirty="0"/>
                <a:t>Accomplishes the IAF</a:t>
              </a:r>
            </a:p>
          </p:txBody>
        </p:sp>
        <p:sp>
          <p:nvSpPr>
            <p:cNvPr id="96" name="Flowchart: Document 95"/>
            <p:cNvSpPr/>
            <p:nvPr/>
          </p:nvSpPr>
          <p:spPr>
            <a:xfrm>
              <a:off x="3280881" y="2207482"/>
              <a:ext cx="658368" cy="438912"/>
            </a:xfrm>
            <a:prstGeom prst="flowChartDocumen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PH" sz="800" dirty="0"/>
                <a:t>IAF</a:t>
              </a:r>
            </a:p>
          </p:txBody>
        </p:sp>
        <p:sp>
          <p:nvSpPr>
            <p:cNvPr id="124" name="Flowchart: Connector 123"/>
            <p:cNvSpPr/>
            <p:nvPr/>
          </p:nvSpPr>
          <p:spPr>
            <a:xfrm>
              <a:off x="3795271" y="1772789"/>
              <a:ext cx="152068" cy="134784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PH" sz="800" dirty="0"/>
                <a:t>1</a:t>
              </a:r>
            </a:p>
          </p:txBody>
        </p:sp>
      </p:grpSp>
      <p:pic>
        <p:nvPicPr>
          <p:cNvPr id="61" name="Picture 6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1" r="13730"/>
          <a:stretch/>
        </p:blipFill>
        <p:spPr>
          <a:xfrm>
            <a:off x="1418892" y="1484996"/>
            <a:ext cx="877824" cy="731520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8" r="7377"/>
          <a:stretch/>
        </p:blipFill>
        <p:spPr>
          <a:xfrm>
            <a:off x="4517569" y="1482594"/>
            <a:ext cx="877824" cy="731520"/>
          </a:xfrm>
          <a:prstGeom prst="rect">
            <a:avLst/>
          </a:prstGeom>
        </p:spPr>
      </p:pic>
      <p:cxnSp>
        <p:nvCxnSpPr>
          <p:cNvPr id="70" name="Straight Arrow Connector 69"/>
          <p:cNvCxnSpPr>
            <a:stCxn id="144" idx="3"/>
            <a:endCxn id="67" idx="1"/>
          </p:cNvCxnSpPr>
          <p:nvPr/>
        </p:nvCxnSpPr>
        <p:spPr>
          <a:xfrm>
            <a:off x="7034287" y="1848354"/>
            <a:ext cx="649605" cy="1201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7" idx="3"/>
            <a:endCxn id="42" idx="2"/>
          </p:cNvCxnSpPr>
          <p:nvPr/>
        </p:nvCxnSpPr>
        <p:spPr>
          <a:xfrm flipV="1">
            <a:off x="8644012" y="1848354"/>
            <a:ext cx="691434" cy="1201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Flowchart: Alternate Process 76"/>
          <p:cNvSpPr>
            <a:spLocks noChangeAspect="1"/>
          </p:cNvSpPr>
          <p:nvPr/>
        </p:nvSpPr>
        <p:spPr>
          <a:xfrm>
            <a:off x="2933134" y="3148806"/>
            <a:ext cx="960120" cy="64008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Checks accuracy &amp; completeness of details of IAF</a:t>
            </a:r>
          </a:p>
        </p:txBody>
      </p:sp>
      <p:sp>
        <p:nvSpPr>
          <p:cNvPr id="80" name="Flowchart: Decision 79"/>
          <p:cNvSpPr>
            <a:spLocks noChangeAspect="1"/>
          </p:cNvSpPr>
          <p:nvPr/>
        </p:nvSpPr>
        <p:spPr>
          <a:xfrm>
            <a:off x="4551557" y="3151199"/>
            <a:ext cx="960120" cy="64008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Correct and complete?</a:t>
            </a:r>
          </a:p>
        </p:txBody>
      </p:sp>
      <p:cxnSp>
        <p:nvCxnSpPr>
          <p:cNvPr id="85" name="Straight Arrow Connector 84"/>
          <p:cNvCxnSpPr>
            <a:stCxn id="80" idx="2"/>
            <a:endCxn id="45" idx="0"/>
          </p:cNvCxnSpPr>
          <p:nvPr/>
        </p:nvCxnSpPr>
        <p:spPr>
          <a:xfrm>
            <a:off x="5031617" y="3791279"/>
            <a:ext cx="0" cy="26961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/>
          <p:cNvGrpSpPr/>
          <p:nvPr/>
        </p:nvGrpSpPr>
        <p:grpSpPr>
          <a:xfrm>
            <a:off x="6061187" y="3156235"/>
            <a:ext cx="994518" cy="873605"/>
            <a:chOff x="2944731" y="1772789"/>
            <a:chExt cx="994518" cy="873605"/>
          </a:xfrm>
        </p:grpSpPr>
        <p:sp>
          <p:nvSpPr>
            <p:cNvPr id="89" name="Flowchart: Alternate Process 88"/>
            <p:cNvSpPr/>
            <p:nvPr/>
          </p:nvSpPr>
          <p:spPr>
            <a:xfrm>
              <a:off x="2944731" y="1772789"/>
              <a:ext cx="957221" cy="640080"/>
            </a:xfrm>
            <a:prstGeom prst="flowChartAlternateProcess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PH" sz="600" dirty="0"/>
                <a:t>Forwards IAF to the respective TPIP</a:t>
              </a:r>
            </a:p>
          </p:txBody>
        </p:sp>
        <p:sp>
          <p:nvSpPr>
            <p:cNvPr id="90" name="Flowchart: Document 89"/>
            <p:cNvSpPr/>
            <p:nvPr/>
          </p:nvSpPr>
          <p:spPr>
            <a:xfrm>
              <a:off x="3280881" y="2207482"/>
              <a:ext cx="658368" cy="438912"/>
            </a:xfrm>
            <a:prstGeom prst="flowChartDocumen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PH" sz="800" dirty="0"/>
                <a:t>IAF</a:t>
              </a:r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7621514" y="3885365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TPIP</a:t>
            </a:r>
          </a:p>
        </p:txBody>
      </p:sp>
      <p:pic>
        <p:nvPicPr>
          <p:cNvPr id="100" name="Picture 9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8" r="7377"/>
          <a:stretch/>
        </p:blipFill>
        <p:spPr>
          <a:xfrm>
            <a:off x="7752868" y="3112652"/>
            <a:ext cx="877824" cy="73152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6819669" y="5546863"/>
            <a:ext cx="25157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Legend:</a:t>
            </a:r>
          </a:p>
          <a:p>
            <a:r>
              <a:rPr lang="en-US" sz="800" b="1" dirty="0"/>
              <a:t>IAF – Insurance Application Form</a:t>
            </a:r>
          </a:p>
          <a:p>
            <a:r>
              <a:rPr lang="en-US" sz="800" b="1" dirty="0"/>
              <a:t>TPIP – Third-Party Insurance Providers (Cooperative Insurance System of the Philippines for Life Insurance, R&amp;B Insurance Inc. for Non-Life Insurance, Cooperative Health Management Foundation for Health Insurance)</a:t>
            </a:r>
          </a:p>
          <a:p>
            <a:endParaRPr lang="en-US" sz="1000" b="1" dirty="0"/>
          </a:p>
          <a:p>
            <a:endParaRPr lang="en-US" sz="1000" b="1" dirty="0"/>
          </a:p>
          <a:p>
            <a:endParaRPr lang="en-US" sz="1000" b="1" dirty="0"/>
          </a:p>
          <a:p>
            <a:endParaRPr lang="en-PH" sz="1000" b="1" dirty="0"/>
          </a:p>
        </p:txBody>
      </p:sp>
      <p:sp>
        <p:nvSpPr>
          <p:cNvPr id="113" name="TextBox 112"/>
          <p:cNvSpPr txBox="1"/>
          <p:nvPr/>
        </p:nvSpPr>
        <p:spPr>
          <a:xfrm>
            <a:off x="5049956" y="3789878"/>
            <a:ext cx="355040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No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15444" y="3518170"/>
            <a:ext cx="355040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Yes</a:t>
            </a:r>
          </a:p>
        </p:txBody>
      </p:sp>
      <p:sp>
        <p:nvSpPr>
          <p:cNvPr id="45" name="Flowchart: Merge 44"/>
          <p:cNvSpPr>
            <a:spLocks noChangeAspect="1"/>
          </p:cNvSpPr>
          <p:nvPr/>
        </p:nvSpPr>
        <p:spPr>
          <a:xfrm>
            <a:off x="4618286" y="4060893"/>
            <a:ext cx="826661" cy="551107"/>
          </a:xfrm>
          <a:prstGeom prst="flowChartMerg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File</a:t>
            </a:r>
          </a:p>
        </p:txBody>
      </p:sp>
      <p:sp>
        <p:nvSpPr>
          <p:cNvPr id="46" name="Flowchart: Connector 45"/>
          <p:cNvSpPr>
            <a:spLocks noChangeAspect="1"/>
          </p:cNvSpPr>
          <p:nvPr/>
        </p:nvSpPr>
        <p:spPr>
          <a:xfrm>
            <a:off x="9335446" y="3318392"/>
            <a:ext cx="320040" cy="32004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1000" dirty="0"/>
              <a:t>B</a:t>
            </a:r>
          </a:p>
        </p:txBody>
      </p:sp>
      <p:sp>
        <p:nvSpPr>
          <p:cNvPr id="49" name="Flowchart: Connector 48"/>
          <p:cNvSpPr>
            <a:spLocks noChangeAspect="1"/>
          </p:cNvSpPr>
          <p:nvPr/>
        </p:nvSpPr>
        <p:spPr>
          <a:xfrm>
            <a:off x="373369" y="4799637"/>
            <a:ext cx="320040" cy="32004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1000" dirty="0"/>
              <a:t>B</a:t>
            </a:r>
          </a:p>
        </p:txBody>
      </p:sp>
      <p:sp>
        <p:nvSpPr>
          <p:cNvPr id="51" name="Flowchart: Predefined Process 50"/>
          <p:cNvSpPr>
            <a:spLocks noChangeAspect="1"/>
          </p:cNvSpPr>
          <p:nvPr/>
        </p:nvSpPr>
        <p:spPr>
          <a:xfrm>
            <a:off x="1298034" y="4639617"/>
            <a:ext cx="961088" cy="640080"/>
          </a:xfrm>
          <a:prstGeom prst="flowChartPredefined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Processing of Insurance Applications by the respective TPIP</a:t>
            </a:r>
          </a:p>
        </p:txBody>
      </p:sp>
      <p:cxnSp>
        <p:nvCxnSpPr>
          <p:cNvPr id="52" name="Straight Arrow Connector 51"/>
          <p:cNvCxnSpPr>
            <a:stCxn id="51" idx="3"/>
            <a:endCxn id="53" idx="1"/>
          </p:cNvCxnSpPr>
          <p:nvPr/>
        </p:nvCxnSpPr>
        <p:spPr>
          <a:xfrm>
            <a:off x="2259122" y="4959657"/>
            <a:ext cx="652561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owchart: Terminator 52"/>
          <p:cNvSpPr/>
          <p:nvPr/>
        </p:nvSpPr>
        <p:spPr>
          <a:xfrm>
            <a:off x="2911683" y="4808781"/>
            <a:ext cx="563161" cy="301752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End</a:t>
            </a:r>
          </a:p>
        </p:txBody>
      </p:sp>
      <p:cxnSp>
        <p:nvCxnSpPr>
          <p:cNvPr id="54" name="Straight Arrow Connector 53"/>
          <p:cNvCxnSpPr>
            <a:stCxn id="49" idx="6"/>
            <a:endCxn id="51" idx="1"/>
          </p:cNvCxnSpPr>
          <p:nvPr/>
        </p:nvCxnSpPr>
        <p:spPr>
          <a:xfrm>
            <a:off x="693409" y="4959657"/>
            <a:ext cx="604625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owchart: Connector 57"/>
          <p:cNvSpPr>
            <a:spLocks noChangeAspect="1"/>
          </p:cNvSpPr>
          <p:nvPr/>
        </p:nvSpPr>
        <p:spPr>
          <a:xfrm>
            <a:off x="373369" y="3305852"/>
            <a:ext cx="320040" cy="32004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1000" dirty="0"/>
              <a:t>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92758" y="3872134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INBD  - Staff</a:t>
            </a: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8" r="7377"/>
          <a:stretch/>
        </p:blipFill>
        <p:spPr>
          <a:xfrm>
            <a:off x="1396284" y="3100112"/>
            <a:ext cx="877824" cy="731520"/>
          </a:xfrm>
          <a:prstGeom prst="rect">
            <a:avLst/>
          </a:prstGeom>
        </p:spPr>
      </p:pic>
      <p:cxnSp>
        <p:nvCxnSpPr>
          <p:cNvPr id="65" name="Straight Arrow Connector 64"/>
          <p:cNvCxnSpPr>
            <a:stCxn id="58" idx="6"/>
            <a:endCxn id="64" idx="1"/>
          </p:cNvCxnSpPr>
          <p:nvPr/>
        </p:nvCxnSpPr>
        <p:spPr>
          <a:xfrm>
            <a:off x="693409" y="3465872"/>
            <a:ext cx="702875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lowchart: Decision 66"/>
          <p:cNvSpPr>
            <a:spLocks noChangeAspect="1"/>
          </p:cNvSpPr>
          <p:nvPr/>
        </p:nvSpPr>
        <p:spPr>
          <a:xfrm>
            <a:off x="7683892" y="1529515"/>
            <a:ext cx="960120" cy="64008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Branch near main office?</a:t>
            </a:r>
          </a:p>
        </p:txBody>
      </p:sp>
      <p:cxnSp>
        <p:nvCxnSpPr>
          <p:cNvPr id="72" name="Straight Arrow Connector 71"/>
          <p:cNvCxnSpPr>
            <a:stCxn id="67" idx="2"/>
            <a:endCxn id="73" idx="0"/>
          </p:cNvCxnSpPr>
          <p:nvPr/>
        </p:nvCxnSpPr>
        <p:spPr>
          <a:xfrm>
            <a:off x="8163952" y="2169595"/>
            <a:ext cx="0" cy="23232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lowchart: Alternate Process 72"/>
          <p:cNvSpPr>
            <a:spLocks noChangeAspect="1"/>
          </p:cNvSpPr>
          <p:nvPr/>
        </p:nvSpPr>
        <p:spPr>
          <a:xfrm>
            <a:off x="7683892" y="2401919"/>
            <a:ext cx="960120" cy="64008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Sends directly to TPIP through courier services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82321" y="2163216"/>
            <a:ext cx="355040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No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47809" y="1891508"/>
            <a:ext cx="355040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35206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250705" y="5597238"/>
            <a:ext cx="562622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Notes:	</a:t>
            </a:r>
            <a:r>
              <a:rPr lang="en-US" sz="800" b="1" dirty="0"/>
              <a:t>Service Providers include:</a:t>
            </a:r>
          </a:p>
          <a:p>
            <a:r>
              <a:rPr lang="en-US" sz="800" b="1" dirty="0"/>
              <a:t>	1. Globe Telecom		5. </a:t>
            </a:r>
            <a:r>
              <a:rPr lang="en-US" sz="800" b="1" dirty="0" err="1"/>
              <a:t>Landbank</a:t>
            </a:r>
            <a:endParaRPr lang="en-US" sz="800" b="1" dirty="0"/>
          </a:p>
          <a:p>
            <a:r>
              <a:rPr lang="en-US" sz="800" b="1" dirty="0"/>
              <a:t>	2. Shell		6. Sky Cable</a:t>
            </a:r>
          </a:p>
          <a:p>
            <a:r>
              <a:rPr lang="en-US" sz="800" b="1" dirty="0"/>
              <a:t>	3. Petron		7. Unilever</a:t>
            </a:r>
          </a:p>
          <a:p>
            <a:r>
              <a:rPr lang="en-US" sz="800" b="1" dirty="0"/>
              <a:t>	4. </a:t>
            </a:r>
            <a:r>
              <a:rPr lang="en-US" sz="800" b="1" dirty="0" err="1"/>
              <a:t>Oppo</a:t>
            </a:r>
            <a:r>
              <a:rPr lang="en-US" sz="800" b="1" dirty="0"/>
              <a:t> Mobile</a:t>
            </a:r>
          </a:p>
          <a:p>
            <a:r>
              <a:rPr lang="en-US" sz="1000" b="1" dirty="0"/>
              <a:t>	</a:t>
            </a:r>
            <a:r>
              <a:rPr lang="en-US" sz="800" b="1" dirty="0"/>
              <a:t>The INBD only monitors the operations of other services and its relations to service providers.</a:t>
            </a:r>
            <a:endParaRPr lang="en-US" sz="1000" b="1" dirty="0"/>
          </a:p>
          <a:p>
            <a:endParaRPr lang="en-PH" sz="1000" b="1" dirty="0"/>
          </a:p>
        </p:txBody>
      </p:sp>
      <p:cxnSp>
        <p:nvCxnSpPr>
          <p:cNvPr id="15" name="Straight Arrow Connector 14"/>
          <p:cNvCxnSpPr>
            <a:stCxn id="61" idx="3"/>
            <a:endCxn id="133" idx="1"/>
          </p:cNvCxnSpPr>
          <p:nvPr/>
        </p:nvCxnSpPr>
        <p:spPr>
          <a:xfrm flipV="1">
            <a:off x="2296716" y="2486529"/>
            <a:ext cx="648015" cy="240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310550" y="397701"/>
            <a:ext cx="4932480" cy="318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Insurance and Non-Banking Department</a:t>
            </a:r>
            <a:endParaRPr lang="en-PH" sz="14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0128" y="1041421"/>
            <a:ext cx="9646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400" b="1" dirty="0">
                <a:solidFill>
                  <a:schemeClr val="bg1"/>
                </a:solidFill>
              </a:rPr>
              <a:t>Management of Other Services</a:t>
            </a:r>
          </a:p>
        </p:txBody>
      </p:sp>
      <p:sp>
        <p:nvSpPr>
          <p:cNvPr id="6" name="Flowchart: Terminator 5"/>
          <p:cNvSpPr/>
          <p:nvPr/>
        </p:nvSpPr>
        <p:spPr>
          <a:xfrm>
            <a:off x="251809" y="2335653"/>
            <a:ext cx="563161" cy="301752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Start</a:t>
            </a:r>
          </a:p>
        </p:txBody>
      </p:sp>
      <p:cxnSp>
        <p:nvCxnSpPr>
          <p:cNvPr id="7" name="Straight Arrow Connector 6"/>
          <p:cNvCxnSpPr>
            <a:stCxn id="6" idx="3"/>
            <a:endCxn id="61" idx="1"/>
          </p:cNvCxnSpPr>
          <p:nvPr/>
        </p:nvCxnSpPr>
        <p:spPr>
          <a:xfrm>
            <a:off x="814970" y="2486529"/>
            <a:ext cx="603922" cy="240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Flowchart: Connector 125"/>
          <p:cNvSpPr/>
          <p:nvPr/>
        </p:nvSpPr>
        <p:spPr>
          <a:xfrm>
            <a:off x="1079291" y="5641120"/>
            <a:ext cx="152068" cy="134784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03912" y="298944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Members</a:t>
            </a:r>
          </a:p>
        </p:txBody>
      </p:sp>
      <p:cxnSp>
        <p:nvCxnSpPr>
          <p:cNvPr id="136" name="Straight Arrow Connector 135"/>
          <p:cNvCxnSpPr>
            <a:stCxn id="133" idx="3"/>
            <a:endCxn id="62" idx="1"/>
          </p:cNvCxnSpPr>
          <p:nvPr/>
        </p:nvCxnSpPr>
        <p:spPr>
          <a:xfrm>
            <a:off x="3901952" y="2486529"/>
            <a:ext cx="615617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414043" y="2932372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Loan Clerk</a:t>
            </a:r>
          </a:p>
        </p:txBody>
      </p:sp>
      <p:cxnSp>
        <p:nvCxnSpPr>
          <p:cNvPr id="142" name="Straight Arrow Connector 141"/>
          <p:cNvCxnSpPr>
            <a:stCxn id="62" idx="3"/>
            <a:endCxn id="144" idx="1"/>
          </p:cNvCxnSpPr>
          <p:nvPr/>
        </p:nvCxnSpPr>
        <p:spPr>
          <a:xfrm>
            <a:off x="5395393" y="2486529"/>
            <a:ext cx="67877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Flowchart: Alternate Process 143"/>
          <p:cNvSpPr>
            <a:spLocks noChangeAspect="1"/>
          </p:cNvSpPr>
          <p:nvPr/>
        </p:nvSpPr>
        <p:spPr>
          <a:xfrm>
            <a:off x="6074167" y="2166489"/>
            <a:ext cx="960120" cy="64008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Collects AF from members &amp; notifies to INBD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944731" y="2166489"/>
            <a:ext cx="994518" cy="873605"/>
            <a:chOff x="2944731" y="1772789"/>
            <a:chExt cx="994518" cy="873605"/>
          </a:xfrm>
        </p:grpSpPr>
        <p:sp>
          <p:nvSpPr>
            <p:cNvPr id="133" name="Flowchart: Alternate Process 132"/>
            <p:cNvSpPr/>
            <p:nvPr/>
          </p:nvSpPr>
          <p:spPr>
            <a:xfrm>
              <a:off x="2944731" y="1772789"/>
              <a:ext cx="957221" cy="640080"/>
            </a:xfrm>
            <a:prstGeom prst="flowChartAlternateProcess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PH" sz="800" dirty="0"/>
                <a:t>Accomplishes the AF</a:t>
              </a:r>
            </a:p>
          </p:txBody>
        </p:sp>
        <p:sp>
          <p:nvSpPr>
            <p:cNvPr id="96" name="Flowchart: Document 95"/>
            <p:cNvSpPr/>
            <p:nvPr/>
          </p:nvSpPr>
          <p:spPr>
            <a:xfrm>
              <a:off x="3280881" y="2207482"/>
              <a:ext cx="658368" cy="438912"/>
            </a:xfrm>
            <a:prstGeom prst="flowChartDocumen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PH" sz="800" dirty="0"/>
                <a:t>AF</a:t>
              </a:r>
            </a:p>
          </p:txBody>
        </p:sp>
      </p:grpSp>
      <p:pic>
        <p:nvPicPr>
          <p:cNvPr id="61" name="Picture 6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1" r="13730"/>
          <a:stretch/>
        </p:blipFill>
        <p:spPr>
          <a:xfrm>
            <a:off x="1418892" y="2123171"/>
            <a:ext cx="877824" cy="731520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8" r="7377"/>
          <a:stretch/>
        </p:blipFill>
        <p:spPr>
          <a:xfrm>
            <a:off x="4517569" y="2120769"/>
            <a:ext cx="877824" cy="731520"/>
          </a:xfrm>
          <a:prstGeom prst="rect">
            <a:avLst/>
          </a:prstGeom>
        </p:spPr>
      </p:pic>
      <p:cxnSp>
        <p:nvCxnSpPr>
          <p:cNvPr id="70" name="Straight Arrow Connector 69"/>
          <p:cNvCxnSpPr>
            <a:stCxn id="144" idx="3"/>
            <a:endCxn id="51" idx="1"/>
          </p:cNvCxnSpPr>
          <p:nvPr/>
        </p:nvCxnSpPr>
        <p:spPr>
          <a:xfrm>
            <a:off x="7034287" y="2486529"/>
            <a:ext cx="67657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51" idx="3"/>
            <a:endCxn id="54" idx="2"/>
          </p:cNvCxnSpPr>
          <p:nvPr/>
        </p:nvCxnSpPr>
        <p:spPr>
          <a:xfrm>
            <a:off x="8671945" y="2486529"/>
            <a:ext cx="666135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19669" y="5546863"/>
            <a:ext cx="25157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Legend:</a:t>
            </a:r>
          </a:p>
          <a:p>
            <a:r>
              <a:rPr lang="en-US" sz="1000" b="1" dirty="0"/>
              <a:t>AF – Application Form</a:t>
            </a:r>
          </a:p>
          <a:p>
            <a:r>
              <a:rPr lang="en-US" sz="1000" b="1" dirty="0"/>
              <a:t>INBD – Insurance and Non-Banking Department</a:t>
            </a:r>
          </a:p>
          <a:p>
            <a:endParaRPr lang="en-US" sz="1000" b="1" dirty="0"/>
          </a:p>
          <a:p>
            <a:endParaRPr lang="en-US" sz="1000" b="1" dirty="0"/>
          </a:p>
          <a:p>
            <a:endParaRPr lang="en-PH" sz="1000" b="1" dirty="0"/>
          </a:p>
        </p:txBody>
      </p:sp>
      <p:sp>
        <p:nvSpPr>
          <p:cNvPr id="51" name="Flowchart: Predefined Process 50"/>
          <p:cNvSpPr>
            <a:spLocks noChangeAspect="1"/>
          </p:cNvSpPr>
          <p:nvPr/>
        </p:nvSpPr>
        <p:spPr>
          <a:xfrm>
            <a:off x="7710857" y="2166489"/>
            <a:ext cx="961088" cy="640080"/>
          </a:xfrm>
          <a:prstGeom prst="flowChartPredefined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Loans Processing</a:t>
            </a:r>
          </a:p>
        </p:txBody>
      </p:sp>
      <p:sp>
        <p:nvSpPr>
          <p:cNvPr id="53" name="Flowchart: Connector 52"/>
          <p:cNvSpPr/>
          <p:nvPr/>
        </p:nvSpPr>
        <p:spPr>
          <a:xfrm>
            <a:off x="6958253" y="2145258"/>
            <a:ext cx="152068" cy="134784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1</a:t>
            </a:r>
          </a:p>
        </p:txBody>
      </p:sp>
      <p:sp>
        <p:nvSpPr>
          <p:cNvPr id="54" name="Flowchart: Connector 53"/>
          <p:cNvSpPr>
            <a:spLocks noChangeAspect="1"/>
          </p:cNvSpPr>
          <p:nvPr/>
        </p:nvSpPr>
        <p:spPr>
          <a:xfrm>
            <a:off x="9338080" y="2326509"/>
            <a:ext cx="320040" cy="32004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1000" dirty="0"/>
              <a:t>A</a:t>
            </a:r>
          </a:p>
        </p:txBody>
      </p:sp>
      <p:sp>
        <p:nvSpPr>
          <p:cNvPr id="55" name="Flowchart: Connector 54"/>
          <p:cNvSpPr>
            <a:spLocks noChangeAspect="1"/>
          </p:cNvSpPr>
          <p:nvPr/>
        </p:nvSpPr>
        <p:spPr>
          <a:xfrm>
            <a:off x="373369" y="4171184"/>
            <a:ext cx="320040" cy="32004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1000" dirty="0"/>
              <a:t>A</a:t>
            </a:r>
          </a:p>
        </p:txBody>
      </p:sp>
      <p:cxnSp>
        <p:nvCxnSpPr>
          <p:cNvPr id="56" name="Straight Arrow Connector 55"/>
          <p:cNvCxnSpPr>
            <a:stCxn id="55" idx="6"/>
            <a:endCxn id="60" idx="1"/>
          </p:cNvCxnSpPr>
          <p:nvPr/>
        </p:nvCxnSpPr>
        <p:spPr>
          <a:xfrm flipV="1">
            <a:off x="693409" y="4326180"/>
            <a:ext cx="957729" cy="502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Flowchart: Merge 59"/>
          <p:cNvSpPr>
            <a:spLocks noChangeAspect="1"/>
          </p:cNvSpPr>
          <p:nvPr/>
        </p:nvSpPr>
        <p:spPr>
          <a:xfrm>
            <a:off x="1444473" y="4050626"/>
            <a:ext cx="826661" cy="551107"/>
          </a:xfrm>
          <a:prstGeom prst="flowChartMerg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File</a:t>
            </a:r>
          </a:p>
        </p:txBody>
      </p:sp>
      <p:cxnSp>
        <p:nvCxnSpPr>
          <p:cNvPr id="64" name="Straight Arrow Connector 63"/>
          <p:cNvCxnSpPr>
            <a:stCxn id="60" idx="3"/>
            <a:endCxn id="65" idx="1"/>
          </p:cNvCxnSpPr>
          <p:nvPr/>
        </p:nvCxnSpPr>
        <p:spPr>
          <a:xfrm flipV="1">
            <a:off x="2064469" y="4325110"/>
            <a:ext cx="1077291" cy="107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lowchart: Terminator 64"/>
          <p:cNvSpPr/>
          <p:nvPr/>
        </p:nvSpPr>
        <p:spPr>
          <a:xfrm>
            <a:off x="3141760" y="4174234"/>
            <a:ext cx="563161" cy="301752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655964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1531</TotalTime>
  <Words>434</Words>
  <Application>Microsoft Office PowerPoint</Application>
  <PresentationFormat>A4 Paper (210x297 mm)</PresentationFormat>
  <Paragraphs>95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Elizer P. Betinol</dc:creator>
  <cp:lastModifiedBy>shin jabonga</cp:lastModifiedBy>
  <cp:revision>95</cp:revision>
  <cp:lastPrinted>2026-04-15T06:56:54Z</cp:lastPrinted>
  <dcterms:created xsi:type="dcterms:W3CDTF">2018-07-10T06:10:15Z</dcterms:created>
  <dcterms:modified xsi:type="dcterms:W3CDTF">2026-04-15T07:20:45Z</dcterms:modified>
</cp:coreProperties>
</file>